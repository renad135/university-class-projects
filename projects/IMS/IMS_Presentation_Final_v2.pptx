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8" d="100"/>
          <a:sy n="158" d="100"/>
        </p:scale>
        <p:origin x="26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810570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5A6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4E7A8A"/>
          </a:solidFill>
          <a:ln w="12700">
            <a:solidFill>
              <a:srgbClr val="4E7A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457200"/>
            <a:ext cx="2651760" cy="4206240"/>
          </a:xfrm>
          <a:prstGeom prst="roundRect">
            <a:avLst>
              <a:gd name="adj" fmla="val 4138"/>
            </a:avLst>
          </a:prstGeom>
          <a:solidFill>
            <a:srgbClr val="406070"/>
          </a:solidFill>
          <a:ln w="12700">
            <a:solidFill>
              <a:srgbClr val="406070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20040"/>
            <a:ext cx="1645920" cy="1097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15087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8BBF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KING KHALID UNIVERSITY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365760" y="1783080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D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of Computer Science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347472" y="1986788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Inventory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301752" y="2459736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8BBFC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Management</a:t>
            </a:r>
            <a:endParaRPr lang="en-US" sz="4800" dirty="0"/>
          </a:p>
        </p:txBody>
      </p:sp>
      <p:sp>
        <p:nvSpPr>
          <p:cNvPr id="9" name="Text 6"/>
          <p:cNvSpPr/>
          <p:nvPr/>
        </p:nvSpPr>
        <p:spPr>
          <a:xfrm>
            <a:off x="276352" y="2971800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2A0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</a:t>
            </a:r>
            <a:endParaRPr lang="en-US" sz="4800" dirty="0"/>
          </a:p>
        </p:txBody>
      </p:sp>
      <p:sp>
        <p:nvSpPr>
          <p:cNvPr id="10" name="Text 7"/>
          <p:cNvSpPr/>
          <p:nvPr/>
        </p:nvSpPr>
        <p:spPr>
          <a:xfrm>
            <a:off x="349250" y="359460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D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Automating Inventory · Empowering Decisions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400800" y="6858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BBF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444CCS-3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400800" y="9875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D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Project Management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400800" y="126187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400800" y="151790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D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 Semester – AY 1447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6583680" y="1874520"/>
            <a:ext cx="1920240" cy="27432"/>
          </a:xfrm>
          <a:prstGeom prst="rect">
            <a:avLst/>
          </a:prstGeom>
          <a:solidFill>
            <a:srgbClr val="8BBFCA"/>
          </a:solidFill>
          <a:ln w="12700">
            <a:solidFill>
              <a:srgbClr val="8BBFC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263640" y="2011680"/>
            <a:ext cx="2560320" cy="960120"/>
          </a:xfrm>
          <a:prstGeom prst="roundRect">
            <a:avLst>
              <a:gd name="adj" fmla="val 7619"/>
            </a:avLst>
          </a:prstGeom>
          <a:solidFill>
            <a:srgbClr val="3A6070"/>
          </a:solidFill>
          <a:ln w="12700">
            <a:solidFill>
              <a:srgbClr val="8BBFC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355080" y="2194560"/>
            <a:ext cx="530352" cy="530352"/>
          </a:xfrm>
          <a:prstGeom prst="ellipse">
            <a:avLst/>
          </a:prstGeom>
          <a:solidFill>
            <a:srgbClr val="8BBFCA"/>
          </a:solidFill>
          <a:ln w="12700">
            <a:solidFill>
              <a:srgbClr val="8BBFC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55080" y="219456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RA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976872" y="213969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Renad Mohammed Alshahri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6976872" y="241401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BF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Manager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6263640" y="3108960"/>
            <a:ext cx="2560320" cy="960120"/>
          </a:xfrm>
          <a:prstGeom prst="roundRect">
            <a:avLst>
              <a:gd name="adj" fmla="val 7619"/>
            </a:avLst>
          </a:prstGeom>
          <a:solidFill>
            <a:srgbClr val="3A6070"/>
          </a:solidFill>
          <a:ln w="12700">
            <a:solidFill>
              <a:srgbClr val="8BBFCA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355080" y="3291840"/>
            <a:ext cx="530352" cy="530352"/>
          </a:xfrm>
          <a:prstGeom prst="ellipse">
            <a:avLst/>
          </a:prstGeom>
          <a:solidFill>
            <a:srgbClr val="8BBFCA"/>
          </a:solidFill>
          <a:ln w="12700">
            <a:solidFill>
              <a:srgbClr val="8BBFC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355080" y="329184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WA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6976872" y="323697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Wajd Yahya Asiri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6976872" y="351129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BF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&amp; Documentation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219456" y="4187952"/>
            <a:ext cx="1078992" cy="292608"/>
          </a:xfrm>
          <a:prstGeom prst="roundRect">
            <a:avLst>
              <a:gd name="adj" fmla="val 21875"/>
            </a:avLst>
          </a:prstGeom>
          <a:solidFill>
            <a:srgbClr val="F2A07B"/>
          </a:solidFill>
          <a:ln w="12700">
            <a:solidFill>
              <a:srgbClr val="F2A07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219456" y="4187952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750" dirty="0"/>
          </a:p>
        </p:txBody>
      </p:sp>
      <p:sp>
        <p:nvSpPr>
          <p:cNvPr id="30" name="Shape 27"/>
          <p:cNvSpPr/>
          <p:nvPr/>
        </p:nvSpPr>
        <p:spPr>
          <a:xfrm>
            <a:off x="1353312" y="4187952"/>
            <a:ext cx="1078992" cy="292608"/>
          </a:xfrm>
          <a:prstGeom prst="roundRect">
            <a:avLst>
              <a:gd name="adj" fmla="val 21875"/>
            </a:avLst>
          </a:prstGeom>
          <a:solidFill>
            <a:srgbClr val="3A6070"/>
          </a:solidFill>
          <a:ln w="12700">
            <a:solidFill>
              <a:srgbClr val="4A708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353312" y="4187952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750" dirty="0"/>
          </a:p>
        </p:txBody>
      </p:sp>
      <p:sp>
        <p:nvSpPr>
          <p:cNvPr id="32" name="Shape 29"/>
          <p:cNvSpPr/>
          <p:nvPr/>
        </p:nvSpPr>
        <p:spPr>
          <a:xfrm>
            <a:off x="2487168" y="4187952"/>
            <a:ext cx="1078992" cy="292608"/>
          </a:xfrm>
          <a:prstGeom prst="roundRect">
            <a:avLst>
              <a:gd name="adj" fmla="val 21875"/>
            </a:avLst>
          </a:prstGeom>
          <a:solidFill>
            <a:srgbClr val="3A6070"/>
          </a:solidFill>
          <a:ln w="12700">
            <a:solidFill>
              <a:srgbClr val="4A708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2487168" y="4187952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</a:t>
            </a:r>
            <a:endParaRPr lang="en-US" sz="750" dirty="0"/>
          </a:p>
        </p:txBody>
      </p:sp>
      <p:sp>
        <p:nvSpPr>
          <p:cNvPr id="34" name="Shape 31"/>
          <p:cNvSpPr/>
          <p:nvPr/>
        </p:nvSpPr>
        <p:spPr>
          <a:xfrm>
            <a:off x="3621024" y="4187952"/>
            <a:ext cx="1078992" cy="292608"/>
          </a:xfrm>
          <a:prstGeom prst="roundRect">
            <a:avLst>
              <a:gd name="adj" fmla="val 21875"/>
            </a:avLst>
          </a:prstGeom>
          <a:solidFill>
            <a:srgbClr val="3A6070"/>
          </a:solidFill>
          <a:ln w="12700">
            <a:solidFill>
              <a:srgbClr val="4A7080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3621024" y="4187952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</a:t>
            </a:r>
            <a:endParaRPr lang="en-US" sz="750" dirty="0"/>
          </a:p>
        </p:txBody>
      </p:sp>
      <p:sp>
        <p:nvSpPr>
          <p:cNvPr id="36" name="Shape 33"/>
          <p:cNvSpPr/>
          <p:nvPr/>
        </p:nvSpPr>
        <p:spPr>
          <a:xfrm>
            <a:off x="4754880" y="4187952"/>
            <a:ext cx="1078992" cy="292608"/>
          </a:xfrm>
          <a:prstGeom prst="roundRect">
            <a:avLst>
              <a:gd name="adj" fmla="val 21875"/>
            </a:avLst>
          </a:prstGeom>
          <a:solidFill>
            <a:srgbClr val="3A6070"/>
          </a:solidFill>
          <a:ln w="12700">
            <a:solidFill>
              <a:srgbClr val="4A7080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727448" y="4187952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750" dirty="0"/>
          </a:p>
        </p:txBody>
      </p:sp>
      <p:sp>
        <p:nvSpPr>
          <p:cNvPr id="38" name="Shape 35"/>
          <p:cNvSpPr/>
          <p:nvPr/>
        </p:nvSpPr>
        <p:spPr>
          <a:xfrm>
            <a:off x="219456" y="4572000"/>
            <a:ext cx="1078992" cy="292608"/>
          </a:xfrm>
          <a:prstGeom prst="roundRect">
            <a:avLst>
              <a:gd name="adj" fmla="val 21875"/>
            </a:avLst>
          </a:prstGeom>
          <a:solidFill>
            <a:srgbClr val="3A6070"/>
          </a:solidFill>
          <a:ln w="12700">
            <a:solidFill>
              <a:srgbClr val="4A7080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219456" y="4572000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750" dirty="0"/>
          </a:p>
        </p:txBody>
      </p:sp>
      <p:sp>
        <p:nvSpPr>
          <p:cNvPr id="40" name="Shape 37"/>
          <p:cNvSpPr/>
          <p:nvPr/>
        </p:nvSpPr>
        <p:spPr>
          <a:xfrm>
            <a:off x="1353312" y="4572000"/>
            <a:ext cx="1078992" cy="292608"/>
          </a:xfrm>
          <a:prstGeom prst="roundRect">
            <a:avLst>
              <a:gd name="adj" fmla="val 21875"/>
            </a:avLst>
          </a:prstGeom>
          <a:solidFill>
            <a:srgbClr val="3A6070"/>
          </a:solidFill>
          <a:ln w="12700">
            <a:solidFill>
              <a:srgbClr val="4A7080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1353312" y="4572000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ID</a:t>
            </a:r>
            <a:endParaRPr lang="en-US" sz="750" dirty="0"/>
          </a:p>
        </p:txBody>
      </p:sp>
      <p:sp>
        <p:nvSpPr>
          <p:cNvPr id="42" name="Shape 39"/>
          <p:cNvSpPr/>
          <p:nvPr/>
        </p:nvSpPr>
        <p:spPr>
          <a:xfrm>
            <a:off x="2487168" y="4572000"/>
            <a:ext cx="1078992" cy="292608"/>
          </a:xfrm>
          <a:prstGeom prst="roundRect">
            <a:avLst>
              <a:gd name="adj" fmla="val 21875"/>
            </a:avLst>
          </a:prstGeom>
          <a:solidFill>
            <a:srgbClr val="3A6070"/>
          </a:solidFill>
          <a:ln w="12700">
            <a:solidFill>
              <a:srgbClr val="4A7080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2487168" y="4572000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750" dirty="0"/>
          </a:p>
        </p:txBody>
      </p:sp>
      <p:sp>
        <p:nvSpPr>
          <p:cNvPr id="44" name="Shape 41"/>
          <p:cNvSpPr/>
          <p:nvPr/>
        </p:nvSpPr>
        <p:spPr>
          <a:xfrm>
            <a:off x="3621024" y="4572000"/>
            <a:ext cx="1078992" cy="292608"/>
          </a:xfrm>
          <a:prstGeom prst="roundRect">
            <a:avLst>
              <a:gd name="adj" fmla="val 21875"/>
            </a:avLst>
          </a:prstGeom>
          <a:solidFill>
            <a:srgbClr val="3A6070"/>
          </a:solidFill>
          <a:ln w="12700">
            <a:solidFill>
              <a:srgbClr val="4A7080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3621024" y="4572000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64592"/>
            <a:ext cx="658368" cy="512064"/>
          </a:xfrm>
          <a:prstGeom prst="roundRect">
            <a:avLst>
              <a:gd name="adj" fmla="val 17857"/>
            </a:avLst>
          </a:prstGeom>
          <a:solidFill>
            <a:srgbClr val="8BBFCA"/>
          </a:solidFill>
          <a:ln w="12700">
            <a:solidFill>
              <a:srgbClr val="8BBFC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6583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78992" y="164592"/>
            <a:ext cx="7772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D5A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731520"/>
            <a:ext cx="8595360" cy="36576"/>
          </a:xfrm>
          <a:prstGeom prst="rect">
            <a:avLst/>
          </a:prstGeom>
          <a:solidFill>
            <a:srgbClr val="8BBFCA"/>
          </a:solidFill>
          <a:ln w="12700">
            <a:solidFill>
              <a:srgbClr val="8BBFC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932688"/>
            <a:ext cx="416052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8BBFCA"/>
            </a:solidFill>
            <a:prstDash val="solid"/>
          </a:ln>
          <a:effectLst>
            <a:outerShdw blurRad="76200" dist="25400" dir="8100000" algn="bl" rotWithShape="0">
              <a:srgbClr val="9BB5C2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932688"/>
            <a:ext cx="4160520" cy="457200"/>
          </a:xfrm>
          <a:prstGeom prst="roundRect">
            <a:avLst>
              <a:gd name="adj" fmla="val 16000"/>
            </a:avLst>
          </a:prstGeom>
          <a:solidFill>
            <a:srgbClr val="8BBFCA"/>
          </a:solidFill>
          <a:ln w="12700">
            <a:solidFill>
              <a:srgbClr val="8BBFC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93268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IMS?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02336" y="1463040"/>
            <a:ext cx="39136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web-based Inventory Management System that automates stock tracking, purchase &amp; sales order processing, and reporting — replacing error-prone manual processes with a reliable, role-based application.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02336" y="246888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A9AA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Objectives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20624" y="2816352"/>
            <a:ext cx="3840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real-time stock level tracking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access: Admin / Manager / Staff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&amp; sales order management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low-stock alerts &amp; supplier database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reporting dashboard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09160" y="932688"/>
            <a:ext cx="2029968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8BBFCA"/>
            </a:solidFill>
            <a:prstDash val="solid"/>
          </a:ln>
          <a:effectLst>
            <a:outerShdw blurRad="76200" dist="25400" dir="8100000" algn="bl" rotWithShape="0">
              <a:srgbClr val="9BB5C2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932688"/>
            <a:ext cx="2029968" cy="91440"/>
          </a:xfrm>
          <a:prstGeom prst="rect">
            <a:avLst/>
          </a:prstGeom>
          <a:solidFill>
            <a:srgbClr val="8BBFCA"/>
          </a:solidFill>
          <a:ln w="12700">
            <a:solidFill>
              <a:srgbClr val="8BBF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9160" y="1115568"/>
            <a:ext cx="2029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8BBFC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5200" dirty="0"/>
          </a:p>
        </p:txBody>
      </p:sp>
      <p:sp>
        <p:nvSpPr>
          <p:cNvPr id="15" name="Text 13"/>
          <p:cNvSpPr/>
          <p:nvPr/>
        </p:nvSpPr>
        <p:spPr>
          <a:xfrm>
            <a:off x="4709160" y="2029968"/>
            <a:ext cx="2029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4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Timeline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85432" y="932688"/>
            <a:ext cx="2029968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7EC8A4"/>
            </a:solidFill>
            <a:prstDash val="solid"/>
          </a:ln>
          <a:effectLst>
            <a:outerShdw blurRad="76200" dist="25400" dir="8100000" algn="bl" rotWithShape="0">
              <a:srgbClr val="9BB5C2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885432" y="932688"/>
            <a:ext cx="2029968" cy="91440"/>
          </a:xfrm>
          <a:prstGeom prst="rect">
            <a:avLst/>
          </a:prstGeom>
          <a:solidFill>
            <a:srgbClr val="7EC8A4"/>
          </a:solidFill>
          <a:ln w="12700">
            <a:solidFill>
              <a:srgbClr val="7EC8A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85432" y="1115568"/>
            <a:ext cx="2029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7EC8A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5200" dirty="0"/>
          </a:p>
        </p:txBody>
      </p:sp>
      <p:sp>
        <p:nvSpPr>
          <p:cNvPr id="19" name="Text 17"/>
          <p:cNvSpPr/>
          <p:nvPr/>
        </p:nvSpPr>
        <p:spPr>
          <a:xfrm>
            <a:off x="6885432" y="2029968"/>
            <a:ext cx="2029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4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Modules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09160" y="2898648"/>
            <a:ext cx="2029968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A89BC2"/>
            </a:solidFill>
            <a:prstDash val="solid"/>
          </a:ln>
          <a:effectLst>
            <a:outerShdw blurRad="76200" dist="25400" dir="8100000" algn="bl" rotWithShape="0">
              <a:srgbClr val="9BB5C2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2898648"/>
            <a:ext cx="2029968" cy="91440"/>
          </a:xfrm>
          <a:prstGeom prst="rect">
            <a:avLst/>
          </a:prstGeom>
          <a:solidFill>
            <a:srgbClr val="A89BC2"/>
          </a:solidFill>
          <a:ln w="12700">
            <a:solidFill>
              <a:srgbClr val="A89BC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9160" y="3081528"/>
            <a:ext cx="2029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A89B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5200" dirty="0"/>
          </a:p>
        </p:txBody>
      </p:sp>
      <p:sp>
        <p:nvSpPr>
          <p:cNvPr id="23" name="Text 21"/>
          <p:cNvSpPr/>
          <p:nvPr/>
        </p:nvSpPr>
        <p:spPr>
          <a:xfrm>
            <a:off x="4709160" y="3995928"/>
            <a:ext cx="2029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4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885432" y="2898648"/>
            <a:ext cx="2029968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8A0A0"/>
            </a:solidFill>
            <a:prstDash val="solid"/>
          </a:ln>
          <a:effectLst>
            <a:outerShdw blurRad="76200" dist="25400" dir="8100000" algn="bl" rotWithShape="0">
              <a:srgbClr val="9BB5C2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885432" y="2898648"/>
            <a:ext cx="2029968" cy="91440"/>
          </a:xfrm>
          <a:prstGeom prst="rect">
            <a:avLst/>
          </a:prstGeom>
          <a:solidFill>
            <a:srgbClr val="E8A0A0"/>
          </a:solidFill>
          <a:ln w="12700">
            <a:solidFill>
              <a:srgbClr val="E8A0A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85432" y="3081528"/>
            <a:ext cx="2029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E8A0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5200" dirty="0"/>
          </a:p>
        </p:txBody>
      </p:sp>
      <p:sp>
        <p:nvSpPr>
          <p:cNvPr id="27" name="Text 25"/>
          <p:cNvSpPr/>
          <p:nvPr/>
        </p:nvSpPr>
        <p:spPr>
          <a:xfrm>
            <a:off x="6885432" y="3995928"/>
            <a:ext cx="2029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4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Identified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64592"/>
            <a:ext cx="658368" cy="512064"/>
          </a:xfrm>
          <a:prstGeom prst="roundRect">
            <a:avLst>
              <a:gd name="adj" fmla="val 17857"/>
            </a:avLst>
          </a:prstGeom>
          <a:solidFill>
            <a:srgbClr val="8BBFCA"/>
          </a:solidFill>
          <a:ln w="12700">
            <a:solidFill>
              <a:srgbClr val="8BBFC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6583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78992" y="164592"/>
            <a:ext cx="7772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D5A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Scope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731520"/>
            <a:ext cx="8595360" cy="36576"/>
          </a:xfrm>
          <a:prstGeom prst="rect">
            <a:avLst/>
          </a:prstGeom>
          <a:solidFill>
            <a:srgbClr val="8BBFCA"/>
          </a:solidFill>
          <a:ln w="12700">
            <a:solidFill>
              <a:srgbClr val="8BBFC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932688"/>
            <a:ext cx="416052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7EC8A4"/>
            </a:solidFill>
            <a:prstDash val="solid"/>
          </a:ln>
          <a:effectLst>
            <a:outerShdw blurRad="76200" dist="25400" dir="8100000" algn="bl" rotWithShape="0">
              <a:srgbClr val="9BB5C2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932688"/>
            <a:ext cx="4160520" cy="420624"/>
          </a:xfrm>
          <a:prstGeom prst="roundRect">
            <a:avLst>
              <a:gd name="adj" fmla="val 17391"/>
            </a:avLst>
          </a:prstGeom>
          <a:solidFill>
            <a:srgbClr val="7EC8A4"/>
          </a:solidFill>
          <a:ln w="12700">
            <a:solidFill>
              <a:srgbClr val="7EC8A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932688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  In Scope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2336" y="1426464"/>
            <a:ext cx="3931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Auth &amp; Role-Based Access Control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Catalog Management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Level Tracking &amp; Automated Alerts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&amp; Sales Order Processing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Module &amp; Audit Trails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Web-Based Interface (Desktop)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3493008"/>
            <a:ext cx="41605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8A0A0"/>
            </a:solidFill>
            <a:prstDash val="solid"/>
          </a:ln>
          <a:effectLst>
            <a:outerShdw blurRad="76200" dist="25400" dir="8100000" algn="bl" rotWithShape="0">
              <a:srgbClr val="9BB5C2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3493008"/>
            <a:ext cx="4160520" cy="420624"/>
          </a:xfrm>
          <a:prstGeom prst="roundRect">
            <a:avLst>
              <a:gd name="adj" fmla="val 17391"/>
            </a:avLst>
          </a:prstGeom>
          <a:solidFill>
            <a:srgbClr val="E8A0A0"/>
          </a:solidFill>
          <a:ln w="12700">
            <a:solidFill>
              <a:srgbClr val="E8A0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3493008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✗  Out of Scope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02336" y="3986784"/>
            <a:ext cx="3931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 Development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System Integration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Barcode Scanner Hardware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09160" y="932688"/>
            <a:ext cx="4160520" cy="1993392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12700">
            <a:solidFill>
              <a:srgbClr val="D4A953"/>
            </a:solidFill>
            <a:prstDash val="solid"/>
          </a:ln>
          <a:effectLst>
            <a:outerShdw blurRad="76200" dist="25400" dir="8100000" algn="bl" rotWithShape="0">
              <a:srgbClr val="9BB5C2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09160" y="932688"/>
            <a:ext cx="4160520" cy="420624"/>
          </a:xfrm>
          <a:prstGeom prst="roundRect">
            <a:avLst>
              <a:gd name="adj" fmla="val 17391"/>
            </a:avLst>
          </a:prstGeom>
          <a:solidFill>
            <a:srgbClr val="D4A953"/>
          </a:solidFill>
          <a:ln w="12700">
            <a:solidFill>
              <a:srgbClr val="D4A95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18888" y="932688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✦  Success Criteria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37176" y="1426464"/>
            <a:ext cx="3931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deployed within 12-week timeline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modules tested &amp; acceptance criteria met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manual &amp; documentation delivered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within estimated budget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09160" y="3035808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5A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Team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09160" y="3401568"/>
            <a:ext cx="4160520" cy="749808"/>
          </a:xfrm>
          <a:prstGeom prst="roundRect">
            <a:avLst>
              <a:gd name="adj" fmla="val 9756"/>
            </a:avLst>
          </a:prstGeom>
          <a:solidFill>
            <a:srgbClr val="F7F9FB"/>
          </a:solidFill>
          <a:ln w="12700">
            <a:solidFill>
              <a:srgbClr val="8BBFCA"/>
            </a:solidFill>
            <a:prstDash val="solid"/>
          </a:ln>
          <a:effectLst>
            <a:outerShdw blurRad="76200" dist="25400" dir="8100000" algn="bl" rotWithShape="0">
              <a:srgbClr val="9BB5C2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00600" y="3511296"/>
            <a:ext cx="512064" cy="512064"/>
          </a:xfrm>
          <a:prstGeom prst="ellipse">
            <a:avLst/>
          </a:prstGeom>
          <a:solidFill>
            <a:srgbClr val="8BBFCA"/>
          </a:solidFill>
          <a:ln w="12700">
            <a:solidFill>
              <a:srgbClr val="8BBFC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35112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RA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13248" y="349300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Renad Mohammed Alshahri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413248" y="3785616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4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Manager · 444807477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09160" y="4279392"/>
            <a:ext cx="4160520" cy="749808"/>
          </a:xfrm>
          <a:prstGeom prst="roundRect">
            <a:avLst>
              <a:gd name="adj" fmla="val 9756"/>
            </a:avLst>
          </a:prstGeom>
          <a:solidFill>
            <a:srgbClr val="F7F9FB"/>
          </a:solidFill>
          <a:ln w="12700">
            <a:solidFill>
              <a:srgbClr val="A89BC2"/>
            </a:solidFill>
            <a:prstDash val="solid"/>
          </a:ln>
          <a:effectLst>
            <a:outerShdw blurRad="76200" dist="25400" dir="8100000" algn="bl" rotWithShape="0">
              <a:srgbClr val="9BB5C2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00600" y="4389120"/>
            <a:ext cx="512064" cy="512064"/>
          </a:xfrm>
          <a:prstGeom prst="ellipse">
            <a:avLst/>
          </a:prstGeom>
          <a:solidFill>
            <a:srgbClr val="A89BC2"/>
          </a:solidFill>
          <a:ln w="12700">
            <a:solidFill>
              <a:srgbClr val="A89BC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43891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WA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413248" y="437083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Wajd Yahya Asiri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413248" y="466344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4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&amp; Documentation · 444808566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64592"/>
            <a:ext cx="658368" cy="512064"/>
          </a:xfrm>
          <a:prstGeom prst="roundRect">
            <a:avLst>
              <a:gd name="adj" fmla="val 17857"/>
            </a:avLst>
          </a:prstGeom>
          <a:solidFill>
            <a:srgbClr val="8BBFCA"/>
          </a:solidFill>
          <a:ln w="12700">
            <a:solidFill>
              <a:srgbClr val="8BBFC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6583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78992" y="164592"/>
            <a:ext cx="7772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D5A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 Project Lifecycle Model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731520"/>
            <a:ext cx="8595360" cy="36576"/>
          </a:xfrm>
          <a:prstGeom prst="rect">
            <a:avLst/>
          </a:prstGeom>
          <a:solidFill>
            <a:srgbClr val="8BBFCA"/>
          </a:solidFill>
          <a:ln w="12700">
            <a:solidFill>
              <a:srgbClr val="8BBFC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932688"/>
            <a:ext cx="3154680" cy="914400"/>
          </a:xfrm>
          <a:prstGeom prst="roundRect">
            <a:avLst>
              <a:gd name="adj" fmla="val 10000"/>
            </a:avLst>
          </a:prstGeom>
          <a:solidFill>
            <a:srgbClr val="8BBFCA"/>
          </a:solidFill>
          <a:ln w="12700">
            <a:solidFill>
              <a:srgbClr val="8BBFCA"/>
            </a:solidFill>
            <a:prstDash val="solid"/>
          </a:ln>
          <a:effectLst>
            <a:outerShdw blurRad="127000" dist="38100" dir="8100000" algn="bl" rotWithShape="0">
              <a:srgbClr val="3D5A6C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932688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kern="0" spc="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AGILE  (SCRUM)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74320" y="1883664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4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Lifecycle · 6 Sprints × 2 Weeks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4320" y="2249424"/>
            <a:ext cx="3154680" cy="2615184"/>
          </a:xfrm>
          <a:prstGeom prst="roundRect">
            <a:avLst>
              <a:gd name="adj" fmla="val 2797"/>
            </a:avLst>
          </a:prstGeom>
          <a:solidFill>
            <a:srgbClr val="FFFFFF"/>
          </a:solidFill>
          <a:ln w="12700">
            <a:solidFill>
              <a:srgbClr val="A89BC2"/>
            </a:solidFill>
            <a:prstDash val="solid"/>
          </a:ln>
          <a:effectLst>
            <a:outerShdw blurRad="76200" dist="25400" dir="8100000" algn="bl" rotWithShape="0">
              <a:srgbClr val="9BB5C2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02336" y="2359152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5A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Agile Scrum?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02336" y="2743200"/>
            <a:ext cx="29260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— adapts to evolving requirements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2-week sprints → early, frequent feedback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stakeholder demos each sprint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align with our 2-member team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risk monitoring built in</a:t>
            </a:r>
            <a:endParaRPr lang="en-US" sz="105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0440" y="914400"/>
            <a:ext cx="5394960" cy="400507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3520440" y="4956048"/>
            <a:ext cx="5394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54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1: Agile Scrum Lifecycle Model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64592"/>
            <a:ext cx="658368" cy="512064"/>
          </a:xfrm>
          <a:prstGeom prst="roundRect">
            <a:avLst>
              <a:gd name="adj" fmla="val 17857"/>
            </a:avLst>
          </a:prstGeom>
          <a:solidFill>
            <a:srgbClr val="8BBFCA"/>
          </a:solidFill>
          <a:ln w="12700">
            <a:solidFill>
              <a:srgbClr val="8BBFC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6583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03b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78992" y="164592"/>
            <a:ext cx="7772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D5A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 Breakdown Structure (WBS)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731520"/>
            <a:ext cx="8595360" cy="36576"/>
          </a:xfrm>
          <a:prstGeom prst="rect">
            <a:avLst/>
          </a:prstGeom>
          <a:solidFill>
            <a:srgbClr val="8BBFCA"/>
          </a:solidFill>
          <a:ln w="12700">
            <a:solidFill>
              <a:srgbClr val="8BBFCA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914400"/>
            <a:ext cx="8595360" cy="42976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5230368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54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2: Work Breakdown Structure — IMS Project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64592"/>
            <a:ext cx="658368" cy="512064"/>
          </a:xfrm>
          <a:prstGeom prst="roundRect">
            <a:avLst>
              <a:gd name="adj" fmla="val 17857"/>
            </a:avLst>
          </a:prstGeom>
          <a:solidFill>
            <a:srgbClr val="8BBFCA"/>
          </a:solidFill>
          <a:ln w="12700">
            <a:solidFill>
              <a:srgbClr val="8BBFC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6583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78992" y="164592"/>
            <a:ext cx="7772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D5A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Schedule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731520"/>
            <a:ext cx="8595360" cy="36576"/>
          </a:xfrm>
          <a:prstGeom prst="rect">
            <a:avLst/>
          </a:prstGeom>
          <a:solidFill>
            <a:srgbClr val="8BBFCA"/>
          </a:solidFill>
          <a:ln w="12700">
            <a:solidFill>
              <a:srgbClr val="8BBFC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0467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4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12-Week Gantt Chart — 16 Feb 2026 → 8 May 2026</a:t>
            </a:r>
            <a:endParaRPr lang="en-US" sz="10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05840"/>
            <a:ext cx="8595360" cy="40233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74320" y="5047488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54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3: Gantt Chart Schedule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64592"/>
            <a:ext cx="658368" cy="512064"/>
          </a:xfrm>
          <a:prstGeom prst="roundRect">
            <a:avLst>
              <a:gd name="adj" fmla="val 17857"/>
            </a:avLst>
          </a:prstGeom>
          <a:solidFill>
            <a:srgbClr val="8BBFCA"/>
          </a:solidFill>
          <a:ln w="12700">
            <a:solidFill>
              <a:srgbClr val="8BBFC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6583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78992" y="164592"/>
            <a:ext cx="7772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D5A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 Management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731520"/>
            <a:ext cx="8595360" cy="36576"/>
          </a:xfrm>
          <a:prstGeom prst="rect">
            <a:avLst/>
          </a:prstGeom>
          <a:solidFill>
            <a:srgbClr val="8BBFCA"/>
          </a:solidFill>
          <a:ln w="12700">
            <a:solidFill>
              <a:srgbClr val="8BBFC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932688"/>
            <a:ext cx="28346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8BBFCA"/>
            </a:solidFill>
            <a:prstDash val="solid"/>
          </a:ln>
          <a:effectLst>
            <a:outerShdw blurRad="76200" dist="25400" dir="8100000" algn="bl" rotWithShape="0">
              <a:srgbClr val="9BB5C2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932688"/>
            <a:ext cx="2834640" cy="420624"/>
          </a:xfrm>
          <a:prstGeom prst="roundRect">
            <a:avLst>
              <a:gd name="adj" fmla="val 17391"/>
            </a:avLst>
          </a:prstGeom>
          <a:solidFill>
            <a:srgbClr val="8BBFCA"/>
          </a:solidFill>
          <a:ln w="12700">
            <a:solidFill>
              <a:srgbClr val="8BBFC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02336" y="932688"/>
            <a:ext cx="2633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Schedule Tool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38912" y="1426464"/>
            <a:ext cx="257860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GanttPro Gantt chart (12 wks)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tasks, durations &amp; dependencies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Milestones tracked per sprint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18688" y="932688"/>
            <a:ext cx="28346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7EC8A4"/>
            </a:solidFill>
            <a:prstDash val="solid"/>
          </a:ln>
          <a:effectLst>
            <a:outerShdw blurRad="76200" dist="25400" dir="8100000" algn="bl" rotWithShape="0">
              <a:srgbClr val="9BB5C2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18688" y="932688"/>
            <a:ext cx="2834640" cy="420624"/>
          </a:xfrm>
          <a:prstGeom prst="roundRect">
            <a:avLst>
              <a:gd name="adj" fmla="val 17391"/>
            </a:avLst>
          </a:prstGeom>
          <a:solidFill>
            <a:srgbClr val="7EC8A4"/>
          </a:solidFill>
          <a:ln w="12700">
            <a:solidFill>
              <a:srgbClr val="7EC8A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46704" y="932688"/>
            <a:ext cx="2633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Progress Tracking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83280" y="1426464"/>
            <a:ext cx="257860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review every Sunday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review every 2 weeks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in meeting minutes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63056" y="932688"/>
            <a:ext cx="28346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A89BC2"/>
            </a:solidFill>
            <a:prstDash val="solid"/>
          </a:ln>
          <a:effectLst>
            <a:outerShdw blurRad="76200" dist="25400" dir="8100000" algn="bl" rotWithShape="0">
              <a:srgbClr val="9BB5C2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63056" y="932688"/>
            <a:ext cx="2834640" cy="420624"/>
          </a:xfrm>
          <a:prstGeom prst="roundRect">
            <a:avLst>
              <a:gd name="adj" fmla="val 17391"/>
            </a:avLst>
          </a:prstGeom>
          <a:solidFill>
            <a:srgbClr val="A89BC2"/>
          </a:solidFill>
          <a:ln w="12700">
            <a:solidFill>
              <a:srgbClr val="A89BC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91072" y="932688"/>
            <a:ext cx="2633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Buffer Management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27648" y="1426464"/>
            <a:ext cx="257860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1-day buffer per sprint cycle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10 = dedicated testing buffer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path monitored closely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74320" y="3419856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5A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Milestones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74320" y="4169664"/>
            <a:ext cx="8595360" cy="45720"/>
          </a:xfrm>
          <a:prstGeom prst="rect">
            <a:avLst/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986784"/>
            <a:ext cx="365760" cy="365760"/>
          </a:xfrm>
          <a:prstGeom prst="ellipse">
            <a:avLst/>
          </a:prstGeom>
          <a:solidFill>
            <a:srgbClr val="8BBFCA"/>
          </a:solidFill>
          <a:ln w="12700">
            <a:solidFill>
              <a:srgbClr val="8BBFCA"/>
            </a:solidFill>
            <a:prstDash val="solid"/>
          </a:ln>
          <a:effectLst>
            <a:outerShdw blurRad="76200" dist="25400" dir="8100000" algn="bl" rotWithShape="0">
              <a:srgbClr val="9BB5C2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74320" y="442569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54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2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201168" y="4681728"/>
            <a:ext cx="1060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SRS Approved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1792224" y="3986784"/>
            <a:ext cx="365760" cy="365760"/>
          </a:xfrm>
          <a:prstGeom prst="ellipse">
            <a:avLst/>
          </a:prstGeom>
          <a:solidFill>
            <a:srgbClr val="7EC8A4"/>
          </a:solidFill>
          <a:ln w="12700">
            <a:solidFill>
              <a:srgbClr val="7EC8A4"/>
            </a:solidFill>
            <a:prstDash val="solid"/>
          </a:ln>
          <a:effectLst>
            <a:outerShdw blurRad="76200" dist="25400" dir="8100000" algn="bl" rotWithShape="0">
              <a:srgbClr val="9BB5C2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517904" y="442569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54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4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444752" y="4681728"/>
            <a:ext cx="1060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Done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035808" y="3986784"/>
            <a:ext cx="365760" cy="365760"/>
          </a:xfrm>
          <a:prstGeom prst="ellipse">
            <a:avLst/>
          </a:prstGeom>
          <a:solidFill>
            <a:srgbClr val="A89BC2"/>
          </a:solidFill>
          <a:ln w="12700">
            <a:solidFill>
              <a:srgbClr val="A89BC2"/>
            </a:solidFill>
            <a:prstDash val="solid"/>
          </a:ln>
          <a:effectLst>
            <a:outerShdw blurRad="76200" dist="25400" dir="8100000" algn="bl" rotWithShape="0">
              <a:srgbClr val="9BB5C2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2761488" y="442569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54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6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2688336" y="4681728"/>
            <a:ext cx="1060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279392" y="3986784"/>
            <a:ext cx="365760" cy="365760"/>
          </a:xfrm>
          <a:prstGeom prst="ellipse">
            <a:avLst/>
          </a:prstGeom>
          <a:solidFill>
            <a:srgbClr val="F2A07B"/>
          </a:solidFill>
          <a:ln w="12700">
            <a:solidFill>
              <a:srgbClr val="F2A07B"/>
            </a:solidFill>
            <a:prstDash val="solid"/>
          </a:ln>
          <a:effectLst>
            <a:outerShdw blurRad="76200" dist="25400" dir="8100000" algn="bl" rotWithShape="0">
              <a:srgbClr val="9BB5C2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005072" y="442569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54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8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931920" y="4681728"/>
            <a:ext cx="1060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5522976" y="3986784"/>
            <a:ext cx="365760" cy="365760"/>
          </a:xfrm>
          <a:prstGeom prst="ellipse">
            <a:avLst/>
          </a:prstGeom>
          <a:solidFill>
            <a:srgbClr val="E8A0A0"/>
          </a:solidFill>
          <a:ln w="12700">
            <a:solidFill>
              <a:srgbClr val="E8A0A0"/>
            </a:solidFill>
            <a:prstDash val="solid"/>
          </a:ln>
          <a:effectLst>
            <a:outerShdw blurRad="76200" dist="25400" dir="8100000" algn="bl" rotWithShape="0">
              <a:srgbClr val="9BB5C2">
                <a:alpha val="1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248656" y="442569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54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10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175504" y="4681728"/>
            <a:ext cx="1060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Done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766560" y="3986784"/>
            <a:ext cx="365760" cy="365760"/>
          </a:xfrm>
          <a:prstGeom prst="ellipse">
            <a:avLst/>
          </a:prstGeom>
          <a:solidFill>
            <a:srgbClr val="D4A953"/>
          </a:solidFill>
          <a:ln w="12700">
            <a:solidFill>
              <a:srgbClr val="D4A953"/>
            </a:solidFill>
            <a:prstDash val="solid"/>
          </a:ln>
          <a:effectLst>
            <a:outerShdw blurRad="76200" dist="25400" dir="8100000" algn="bl" rotWithShape="0">
              <a:srgbClr val="9BB5C2">
                <a:alpha val="1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492240" y="442569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54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11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6419088" y="4681728"/>
            <a:ext cx="1060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Live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8010144" y="3986784"/>
            <a:ext cx="365760" cy="365760"/>
          </a:xfrm>
          <a:prstGeom prst="ellipse">
            <a:avLst/>
          </a:prstGeom>
          <a:solidFill>
            <a:srgbClr val="5A9AAD"/>
          </a:solidFill>
          <a:ln w="12700">
            <a:solidFill>
              <a:srgbClr val="5A9AAD"/>
            </a:solidFill>
            <a:prstDash val="solid"/>
          </a:ln>
          <a:effectLst>
            <a:outerShdw blurRad="76200" dist="25400" dir="8100000" algn="bl" rotWithShape="0">
              <a:srgbClr val="9BB5C2">
                <a:alpha val="18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7735824" y="442569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54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12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7662672" y="4681728"/>
            <a:ext cx="1060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Closure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64592"/>
            <a:ext cx="658368" cy="512064"/>
          </a:xfrm>
          <a:prstGeom prst="roundRect">
            <a:avLst>
              <a:gd name="adj" fmla="val 17857"/>
            </a:avLst>
          </a:prstGeom>
          <a:solidFill>
            <a:srgbClr val="8BBFCA"/>
          </a:solidFill>
          <a:ln w="12700">
            <a:solidFill>
              <a:srgbClr val="8BBFC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6583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06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78992" y="164592"/>
            <a:ext cx="7772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D5A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Management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731520"/>
            <a:ext cx="8595360" cy="36576"/>
          </a:xfrm>
          <a:prstGeom prst="rect">
            <a:avLst/>
          </a:prstGeom>
          <a:solidFill>
            <a:srgbClr val="8BBFCA"/>
          </a:solidFill>
          <a:ln w="12700">
            <a:solidFill>
              <a:srgbClr val="8BBFCA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32688"/>
          <a:ext cx="5760720" cy="3826764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Phase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9AA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Est. Hours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9AA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Cost (SAR 50/hr)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9AA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Notes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9A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Requirements Analysis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 hrs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SAR 800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Stakeholder interviews &amp; SRS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 Design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hrs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SAR 1,000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Architecture, DB, UI wireframes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Development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 hrs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SAR 3,500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5 modules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 hrs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SAR 800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Unit, integration, UAT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 hrs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SAR 700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Reports &amp; user manual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hrs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SAR 300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 setup &amp; training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Contingency Reserve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 hrs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SAR 700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 buffer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TOTAL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5A6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156 hrs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5A6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2A07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SAR 7,800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5A6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Full project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5A6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217920" y="932688"/>
            <a:ext cx="269748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8BBFCA"/>
            </a:solidFill>
            <a:prstDash val="solid"/>
          </a:ln>
          <a:effectLst>
            <a:outerShdw blurRad="76200" dist="25400" dir="8100000" algn="bl" rotWithShape="0">
              <a:srgbClr val="9BB5C2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217920" y="932688"/>
            <a:ext cx="2697480" cy="73152"/>
          </a:xfrm>
          <a:prstGeom prst="rect">
            <a:avLst/>
          </a:prstGeom>
          <a:solidFill>
            <a:srgbClr val="8BBFCA"/>
          </a:solidFill>
          <a:ln w="12700">
            <a:solidFill>
              <a:srgbClr val="8BBFCA"/>
            </a:solidFill>
            <a:prstDash val="solid"/>
          </a:ln>
        </p:spPr>
      </p:sp>
      <p:sp>
        <p:nvSpPr>
          <p:cNvPr id="6" name="Text 6"/>
          <p:cNvSpPr/>
          <p:nvPr/>
        </p:nvSpPr>
        <p:spPr>
          <a:xfrm>
            <a:off x="6217920" y="1042416"/>
            <a:ext cx="2697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8BBFC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156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6217920" y="17373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4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Hours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217920" y="2231136"/>
            <a:ext cx="269748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7EC8A4"/>
            </a:solidFill>
            <a:prstDash val="solid"/>
          </a:ln>
          <a:effectLst>
            <a:outerShdw blurRad="76200" dist="25400" dir="8100000" algn="bl" rotWithShape="0">
              <a:srgbClr val="9BB5C2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217920" y="2231136"/>
            <a:ext cx="2697480" cy="73152"/>
          </a:xfrm>
          <a:prstGeom prst="rect">
            <a:avLst/>
          </a:prstGeom>
          <a:solidFill>
            <a:srgbClr val="7EC8A4"/>
          </a:solidFill>
          <a:ln w="12700">
            <a:solidFill>
              <a:srgbClr val="7EC8A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17920" y="2340864"/>
            <a:ext cx="2697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7EC8A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SAR 7,800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6217920" y="303580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4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Cost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217920" y="3529584"/>
            <a:ext cx="269748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A89BC2"/>
            </a:solidFill>
            <a:prstDash val="solid"/>
          </a:ln>
          <a:effectLst>
            <a:outerShdw blurRad="76200" dist="25400" dir="8100000" algn="bl" rotWithShape="0">
              <a:srgbClr val="9BB5C2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217920" y="3529584"/>
            <a:ext cx="2697480" cy="73152"/>
          </a:xfrm>
          <a:prstGeom prst="rect">
            <a:avLst/>
          </a:prstGeom>
          <a:solidFill>
            <a:srgbClr val="A89BC2"/>
          </a:solidFill>
          <a:ln w="12700">
            <a:solidFill>
              <a:srgbClr val="A89BC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217920" y="3639312"/>
            <a:ext cx="2697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A89B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10%</a:t>
            </a:r>
            <a:endParaRPr lang="en-US" sz="3600" dirty="0"/>
          </a:p>
        </p:txBody>
      </p:sp>
      <p:sp>
        <p:nvSpPr>
          <p:cNvPr id="18" name="Text 15"/>
          <p:cNvSpPr/>
          <p:nvPr/>
        </p:nvSpPr>
        <p:spPr>
          <a:xfrm>
            <a:off x="6217920" y="4334256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4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Contingency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274320" y="4846320"/>
            <a:ext cx="8595360" cy="256032"/>
          </a:xfrm>
          <a:prstGeom prst="roundRect">
            <a:avLst>
              <a:gd name="adj" fmla="val 21429"/>
            </a:avLst>
          </a:prstGeom>
          <a:solidFill>
            <a:srgbClr val="EEF3F6"/>
          </a:solidFill>
          <a:ln w="12700">
            <a:solidFill>
              <a:srgbClr val="8BBFC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57200" y="484632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4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tools are free (open-source) or available through university licensing — minimizing external costs.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64592"/>
            <a:ext cx="658368" cy="512064"/>
          </a:xfrm>
          <a:prstGeom prst="roundRect">
            <a:avLst>
              <a:gd name="adj" fmla="val 17857"/>
            </a:avLst>
          </a:prstGeom>
          <a:solidFill>
            <a:srgbClr val="8BBFCA"/>
          </a:solidFill>
          <a:ln w="12700">
            <a:solidFill>
              <a:srgbClr val="8BBFC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6583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07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78992" y="164592"/>
            <a:ext cx="7772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D5A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Identification &amp; Analysis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731520"/>
            <a:ext cx="8595360" cy="36576"/>
          </a:xfrm>
          <a:prstGeom prst="rect">
            <a:avLst/>
          </a:prstGeom>
          <a:solidFill>
            <a:srgbClr val="8BBFCA"/>
          </a:solidFill>
          <a:ln w="12700">
            <a:solidFill>
              <a:srgbClr val="8BBFCA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32688"/>
          <a:ext cx="7223760" cy="3621024"/>
        </p:xfrm>
        <a:graphic>
          <a:graphicData uri="http://schemas.openxmlformats.org/drawingml/2006/table">
            <a:tbl>
              <a:tblPr/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478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241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ID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9AA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Description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9AA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Probability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9AA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Impact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9AA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Level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9A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3D5A6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member unavailability due to illness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54647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54647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D4A9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3D5A6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R02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 changes after development begins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54647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54647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3D5A6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R03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Technical difficulties (tools/environment)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54647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54647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D4A9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3D5A6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R04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Schedule overrun / task underestimation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54647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54647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3D5A6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R05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loss — lack of version control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54647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54647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D4A9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3D5A6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R06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Authentication security vulnerabilities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54647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54647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3D5A6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R07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Bugs undetected until final delivery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54647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54647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D4A9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3D5A6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R08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Workload imbalance between team members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54647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54647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D4A9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4736592"/>
            <a:ext cx="8595360" cy="320040"/>
          </a:xfrm>
          <a:prstGeom prst="roundRect">
            <a:avLst>
              <a:gd name="adj" fmla="val 17143"/>
            </a:avLst>
          </a:prstGeom>
          <a:solidFill>
            <a:srgbClr val="EEF3F6"/>
          </a:solidFill>
          <a:ln w="12700">
            <a:solidFill>
              <a:srgbClr val="8BBFC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4736592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4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Legend:   🔴 High = Medium Prob. + High Impact   ·   🟡 Medium = Low-Med Prob. + Med-High Impact   ·   🟢 Low = Low Prob. + Low Impact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64592"/>
            <a:ext cx="658368" cy="512064"/>
          </a:xfrm>
          <a:prstGeom prst="roundRect">
            <a:avLst>
              <a:gd name="adj" fmla="val 17857"/>
            </a:avLst>
          </a:prstGeom>
          <a:solidFill>
            <a:srgbClr val="8BBFCA"/>
          </a:solidFill>
          <a:ln w="12700">
            <a:solidFill>
              <a:srgbClr val="8BBFC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6583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08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78992" y="164592"/>
            <a:ext cx="7772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D5A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Response Planning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731520"/>
            <a:ext cx="8595360" cy="36576"/>
          </a:xfrm>
          <a:prstGeom prst="rect">
            <a:avLst/>
          </a:prstGeom>
          <a:solidFill>
            <a:srgbClr val="8BBFCA"/>
          </a:solidFill>
          <a:ln w="12700">
            <a:solidFill>
              <a:srgbClr val="8BBFCA"/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32688"/>
          <a:ext cx="8046720" cy="3621024"/>
        </p:xfrm>
        <a:graphic>
          <a:graphicData uri="http://schemas.openxmlformats.org/drawingml/2006/table">
            <a:tbl>
              <a:tblPr/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2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ID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9AA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Strategy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9AA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Response Action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9AA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Owner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9A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3D5A6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5A9AA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 all work on GitHub; cross-train on all modules.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54647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3D5A6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R02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3D8C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Avoidance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Lock requirements post-SRS approval; formal Change Request process.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54647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Renad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3D5A6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R03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5A9AA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 up dev environment Week 1; standardize tech stack.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54647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Renad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3D5A6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R04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5A9AA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schedule buffers; break tasks into smaller units.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54647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Renad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3D5A6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R05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5A9AA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 mandatory commits after each session; protect main branch with PRs.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54647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3D5A6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R06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5A9AA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 bcrypt hashing; security review before testing phase.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54647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Wajd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3D5A6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R07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5A9AA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Comprehensive test cases; dedicated UAT week (Week 10).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54647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Wajd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3D5A6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R08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3D8C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Avoidance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 clear task ownership in WBS; review workload weekly.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54647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4736592"/>
            <a:ext cx="8595360" cy="320040"/>
          </a:xfrm>
          <a:prstGeom prst="roundRect">
            <a:avLst>
              <a:gd name="adj" fmla="val 17143"/>
            </a:avLst>
          </a:prstGeom>
          <a:solidFill>
            <a:srgbClr val="EEF3F6"/>
          </a:solidFill>
          <a:ln w="12700">
            <a:solidFill>
              <a:srgbClr val="8BBFC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4736592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Avoidance = prevent the risk from occurring   ·   Mitigation = reduce probability or impact of the risk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64592"/>
            <a:ext cx="658368" cy="512064"/>
          </a:xfrm>
          <a:prstGeom prst="roundRect">
            <a:avLst>
              <a:gd name="adj" fmla="val 17857"/>
            </a:avLst>
          </a:prstGeom>
          <a:solidFill>
            <a:srgbClr val="8BBFCA"/>
          </a:solidFill>
          <a:ln w="12700">
            <a:solidFill>
              <a:srgbClr val="8BBFC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6583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09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78992" y="164592"/>
            <a:ext cx="7772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D5A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Monitoring and Reporting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731520"/>
            <a:ext cx="8595360" cy="36576"/>
          </a:xfrm>
          <a:prstGeom prst="rect">
            <a:avLst/>
          </a:prstGeom>
          <a:solidFill>
            <a:srgbClr val="8BBFCA"/>
          </a:solidFill>
          <a:ln w="12700">
            <a:solidFill>
              <a:srgbClr val="8BBFC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932688"/>
            <a:ext cx="42062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8BBFCA"/>
            </a:solidFill>
            <a:prstDash val="solid"/>
          </a:ln>
          <a:effectLst>
            <a:outerShdw blurRad="76200" dist="25400" dir="8100000" algn="bl" rotWithShape="0">
              <a:srgbClr val="9BB5C2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932688"/>
            <a:ext cx="4206240" cy="420624"/>
          </a:xfrm>
          <a:prstGeom prst="roundRect">
            <a:avLst>
              <a:gd name="adj" fmla="val 17391"/>
            </a:avLst>
          </a:prstGeom>
          <a:solidFill>
            <a:srgbClr val="8BBFCA"/>
          </a:solidFill>
          <a:ln w="12700">
            <a:solidFill>
              <a:srgbClr val="8BBFC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02336" y="932688"/>
            <a:ext cx="39684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Log Reviews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38912" y="1408176"/>
            <a:ext cx="391363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log updated at every weekly meeting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risks added immediately as identified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status presented at every sprint review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36592" y="932688"/>
            <a:ext cx="42062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7EC8A4"/>
            </a:solidFill>
            <a:prstDash val="solid"/>
          </a:ln>
          <a:effectLst>
            <a:outerShdw blurRad="76200" dist="25400" dir="8100000" algn="bl" rotWithShape="0">
              <a:srgbClr val="9BB5C2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36592" y="932688"/>
            <a:ext cx="4206240" cy="420624"/>
          </a:xfrm>
          <a:prstGeom prst="roundRect">
            <a:avLst>
              <a:gd name="adj" fmla="val 17391"/>
            </a:avLst>
          </a:prstGeom>
          <a:solidFill>
            <a:srgbClr val="7EC8A4"/>
          </a:solidFill>
          <a:ln w="12700">
            <a:solidFill>
              <a:srgbClr val="7EC8A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64608" y="932688"/>
            <a:ext cx="39684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Progress Meetings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01184" y="1408176"/>
            <a:ext cx="391363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team meeting: Sunday 7:00 PM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review every 2-week cycle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Ad-hoc meetings for critical issues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2944368"/>
            <a:ext cx="42062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A89BC2"/>
            </a:solidFill>
            <a:prstDash val="solid"/>
          </a:ln>
          <a:effectLst>
            <a:outerShdw blurRad="76200" dist="25400" dir="8100000" algn="bl" rotWithShape="0">
              <a:srgbClr val="9BB5C2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944368"/>
            <a:ext cx="4206240" cy="420624"/>
          </a:xfrm>
          <a:prstGeom prst="roundRect">
            <a:avLst>
              <a:gd name="adj" fmla="val 17391"/>
            </a:avLst>
          </a:prstGeom>
          <a:solidFill>
            <a:srgbClr val="A89BC2"/>
          </a:solidFill>
          <a:ln w="12700">
            <a:solidFill>
              <a:srgbClr val="A89BC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2336" y="2944368"/>
            <a:ext cx="39684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Reporting Tools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38912" y="3419856"/>
            <a:ext cx="391363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version control &amp; shared risk log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Blackboard: formal deliverable submissions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Teams: daily comms &amp; file sharing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36592" y="2944368"/>
            <a:ext cx="42062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F2A07B"/>
            </a:solidFill>
            <a:prstDash val="solid"/>
          </a:ln>
          <a:effectLst>
            <a:outerShdw blurRad="76200" dist="25400" dir="8100000" algn="bl" rotWithShape="0">
              <a:srgbClr val="9BB5C2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36592" y="2944368"/>
            <a:ext cx="4206240" cy="420624"/>
          </a:xfrm>
          <a:prstGeom prst="roundRect">
            <a:avLst>
              <a:gd name="adj" fmla="val 17391"/>
            </a:avLst>
          </a:prstGeom>
          <a:solidFill>
            <a:srgbClr val="F2A07B"/>
          </a:solidFill>
          <a:ln w="12700">
            <a:solidFill>
              <a:srgbClr val="F2A07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64608" y="2944368"/>
            <a:ext cx="39684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Escalation Process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01184" y="3419856"/>
            <a:ext cx="391363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that materialize → both members alerted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issues addressed immediately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summary in every weekly report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74320" y="4846320"/>
            <a:ext cx="8595360" cy="256032"/>
          </a:xfrm>
          <a:prstGeom prst="roundRect">
            <a:avLst>
              <a:gd name="adj" fmla="val 21429"/>
            </a:avLst>
          </a:prstGeom>
          <a:solidFill>
            <a:srgbClr val="3D5A6C"/>
          </a:solidFill>
          <a:ln w="12700">
            <a:solidFill>
              <a:srgbClr val="3D5A6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84632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BF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Communication:   Weekly → Sunday 7PM MS Teams   ·   Sprint Review → Every 2 weeks   ·   Submissions → Blackboard   ·   Docs → GitHub Wiki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D5A6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334E5E"/>
          </a:solidFill>
          <a:ln w="12700">
            <a:solidFill>
              <a:srgbClr val="334E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30168" y="0"/>
            <a:ext cx="54864" cy="5143500"/>
          </a:xfrm>
          <a:prstGeom prst="rect">
            <a:avLst/>
          </a:prstGeom>
          <a:solidFill>
            <a:srgbClr val="8BBFCA"/>
          </a:solidFill>
          <a:ln w="12700">
            <a:solidFill>
              <a:srgbClr val="8BBFC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7432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0" b="1" dirty="0">
                <a:solidFill>
                  <a:srgbClr val="8BBFC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8800" dirty="0"/>
          </a:p>
        </p:txBody>
      </p:sp>
      <p:sp>
        <p:nvSpPr>
          <p:cNvPr id="5" name="Text 3"/>
          <p:cNvSpPr/>
          <p:nvPr/>
        </p:nvSpPr>
        <p:spPr>
          <a:xfrm>
            <a:off x="274320" y="126187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02920" y="1783080"/>
            <a:ext cx="2560320" cy="36576"/>
          </a:xfrm>
          <a:prstGeom prst="rect">
            <a:avLst/>
          </a:prstGeom>
          <a:solidFill>
            <a:srgbClr val="8BBFCA"/>
          </a:solidFill>
          <a:ln w="12700">
            <a:solidFill>
              <a:srgbClr val="8BBFC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9202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BF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Covered Today: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2240280"/>
            <a:ext cx="29260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 &amp; Scope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Scrum Lifecycle Model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12-Week Project Schedule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&amp; Cost Management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Risks Identified &amp; Analyzed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Response Strategies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&amp; Reporting Plan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840480" y="41148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2A0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Improvements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840480" y="868680"/>
            <a:ext cx="5029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Mobile App (iOS / Android)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ERP Integration (SAP / Oracle)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 Barcode &amp; QR Code Scanning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ML-Based Demand Forecasting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🏭  Multi-Warehouse Support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🛒  Customer-Facing Order Portal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40480" y="3017520"/>
            <a:ext cx="5029200" cy="1828800"/>
          </a:xfrm>
          <a:prstGeom prst="roundRect">
            <a:avLst>
              <a:gd name="adj" fmla="val 6000"/>
            </a:avLst>
          </a:prstGeom>
          <a:solidFill>
            <a:srgbClr val="8BBFCA"/>
          </a:solidFill>
          <a:ln w="12700">
            <a:solidFill>
              <a:srgbClr val="8BBFCA"/>
            </a:solidFill>
            <a:prstDash val="solid"/>
          </a:ln>
          <a:effectLst>
            <a:outerShdw blurRad="127000" dist="38100" dir="8100000" algn="bl" rotWithShape="0">
              <a:srgbClr val="3D5A6C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840480" y="3154680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You!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3840480" y="3822192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D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840480" y="41879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Renad Mohammed Alshahri  ·  Wajd Yahya Asiri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840480" y="448056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444807477  ·  444808566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969</Words>
  <Application>Microsoft Office PowerPoint</Application>
  <PresentationFormat>عرض على الشاشة (16:9)</PresentationFormat>
  <Paragraphs>298</Paragraphs>
  <Slides>12</Slides>
  <Notes>12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3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Inventory Management System</dc:title>
  <dc:subject>PptxGenJS Presentation</dc:subject>
  <dc:creator>PptxGenJS</dc:creator>
  <cp:lastModifiedBy>Renad Alshehri</cp:lastModifiedBy>
  <cp:revision>4</cp:revision>
  <dcterms:created xsi:type="dcterms:W3CDTF">2026-05-09T11:02:14Z</dcterms:created>
  <dcterms:modified xsi:type="dcterms:W3CDTF">2026-10-18T18:09:15Z</dcterms:modified>
</cp:coreProperties>
</file>